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040"/>
            </a:gs>
            <a:gs pos="100000">
              <a:srgbClr val="2C3E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ARTIFICIAL INTELLIGENCE</a:t>
            </a:r>
          </a:p>
          <a:p>
            <a:pPr algn="ctr"/>
            <a:r>
              <a:rPr sz="5400" b="1">
                <a:solidFill>
                  <a:srgbClr val="FFFFFF"/>
                </a:solidFill>
              </a:rPr>
              <a:t>IN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i="1">
                <a:solidFill>
                  <a:srgbClr val="64C8FF"/>
                </a:solidFill>
              </a:rPr>
              <a:t>Protecting Digital Assets with Intelligent Systems</a:t>
            </a:r>
          </a:p>
        </p:txBody>
      </p:sp>
      <p:sp>
        <p:nvSpPr>
          <p:cNvPr id="4" name="Hexagon 3"/>
          <p:cNvSpPr/>
          <p:nvPr/>
        </p:nvSpPr>
        <p:spPr>
          <a:xfrm>
            <a:off x="457200" y="457200"/>
            <a:ext cx="914400" cy="914400"/>
          </a:xfrm>
          <a:prstGeom prst="hexagon">
            <a:avLst/>
          </a:prstGeom>
          <a:solidFill>
            <a:srgbClr val="3498D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7772400" y="5486400"/>
            <a:ext cx="914400" cy="914400"/>
          </a:xfrm>
          <a:prstGeom prst="hexagon">
            <a:avLst/>
          </a:prstGeom>
          <a:solidFill>
            <a:srgbClr val="2ECC71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7772400" y="457200"/>
            <a:ext cx="914400" cy="914400"/>
          </a:xfrm>
          <a:prstGeom prst="hexagon">
            <a:avLst/>
          </a:prstGeom>
          <a:solidFill>
            <a:srgbClr val="9B59B6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A4A"/>
            </a:gs>
            <a:gs pos="100000">
              <a:srgbClr val="34495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3" name="Oval 2"/>
          <p:cNvSpPr/>
          <p:nvPr/>
        </p:nvSpPr>
        <p:spPr>
          <a:xfrm>
            <a:off x="1371600" y="1828800"/>
            <a:ext cx="548640" cy="548640"/>
          </a:xfrm>
          <a:prstGeom prst="ellipse">
            <a:avLst/>
          </a:prstGeom>
          <a:solidFill>
            <a:srgbClr val="3498D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828800"/>
            <a:ext cx="5486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AI Applications in Cybersecurity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2834640"/>
            <a:ext cx="548640" cy="548640"/>
          </a:xfrm>
          <a:prstGeom prst="ellipse">
            <a:avLst/>
          </a:prstGeom>
          <a:solidFill>
            <a:srgbClr val="2ECC71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834640"/>
            <a:ext cx="5486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Machine Learning in Threat Detection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3840480"/>
            <a:ext cx="548640" cy="548640"/>
          </a:xfrm>
          <a:prstGeom prst="ellipse">
            <a:avLst/>
          </a:prstGeom>
          <a:solidFill>
            <a:srgbClr val="E74C3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840480"/>
            <a:ext cx="5486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Challenges &amp; Limitations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4846320"/>
            <a:ext cx="548640" cy="548640"/>
          </a:xfrm>
          <a:prstGeom prst="ellipse">
            <a:avLst/>
          </a:prstGeom>
          <a:solidFill>
            <a:srgbClr val="9B59B6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846320"/>
            <a:ext cx="5486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Future Trends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A4A"/>
            </a:gs>
            <a:gs pos="100000">
              <a:srgbClr val="34495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3498DB"/>
                </a:solidFill>
              </a:rPr>
              <a:t>AI APPLICATIONS IN CYBERSECURITY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2286000"/>
            <a:ext cx="1828800" cy="1097280"/>
          </a:xfrm>
          <a:prstGeom prst="roundRect">
            <a:avLst/>
          </a:prstGeom>
          <a:solidFill>
            <a:srgbClr val="3498D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AI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1645920" cy="914400"/>
          </a:xfrm>
          <a:prstGeom prst="roundRect">
            <a:avLst/>
          </a:prstGeom>
          <a:solidFill>
            <a:srgbClr val="2ECC71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Threat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Detection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94560" y="1828800"/>
            <a:ext cx="2377440" cy="100584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0" y="1371600"/>
            <a:ext cx="1645920" cy="914400"/>
          </a:xfrm>
          <a:prstGeom prst="roundRect">
            <a:avLst/>
          </a:prstGeom>
          <a:solidFill>
            <a:srgbClr val="9B59B6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Anomaly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Detection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4572000" y="1828800"/>
            <a:ext cx="2286000" cy="100584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371600" y="4114800"/>
            <a:ext cx="1645920" cy="914400"/>
          </a:xfrm>
          <a:prstGeom prst="roundRect">
            <a:avLst/>
          </a:prstGeom>
          <a:solidFill>
            <a:srgbClr val="E67E2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Automated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Response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194560" y="2834640"/>
            <a:ext cx="2377440" cy="173736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58000" y="4114800"/>
            <a:ext cx="1645920" cy="914400"/>
          </a:xfrm>
          <a:prstGeom prst="roundRect">
            <a:avLst/>
          </a:prstGeom>
          <a:solidFill>
            <a:srgbClr val="E74C3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Predictive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Analysis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4572000" y="2834640"/>
            <a:ext cx="2286000" cy="173736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A4A"/>
            </a:gs>
            <a:gs pos="100000">
              <a:srgbClr val="34495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2ECC71"/>
                </a:solidFill>
              </a:rPr>
              <a:t>MACHINE LEARNING IN THREAT DETECTION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645920" cy="1097280"/>
          </a:xfrm>
          <a:prstGeom prst="roundRect">
            <a:avLst/>
          </a:prstGeom>
          <a:solidFill>
            <a:srgbClr val="3498D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Data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Collection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651760" y="2194560"/>
            <a:ext cx="457200" cy="365760"/>
          </a:xfrm>
          <a:prstGeom prst="right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0" y="1828800"/>
            <a:ext cx="1645920" cy="1097280"/>
          </a:xfrm>
          <a:prstGeom prst="roundRect">
            <a:avLst/>
          </a:prstGeom>
          <a:solidFill>
            <a:srgbClr val="2ECC71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Feature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Extraction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937760" y="2194560"/>
            <a:ext cx="457200" cy="365760"/>
          </a:xfrm>
          <a:prstGeom prst="right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0" y="1828800"/>
            <a:ext cx="1645920" cy="1097280"/>
          </a:xfrm>
          <a:prstGeom prst="roundRect">
            <a:avLst/>
          </a:prstGeom>
          <a:solidFill>
            <a:srgbClr val="9B59B6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Model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Training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223760" y="2194560"/>
            <a:ext cx="457200" cy="365760"/>
          </a:xfrm>
          <a:prstGeom prst="right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0" y="1828800"/>
            <a:ext cx="1645920" cy="1097280"/>
          </a:xfrm>
          <a:prstGeom prst="roundRect">
            <a:avLst/>
          </a:prstGeom>
          <a:solidFill>
            <a:srgbClr val="E74C3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Threat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KEY BENEFITS:</a:t>
            </a:r>
          </a:p>
          <a:p/>
          <a:p>
            <a:r>
              <a:rPr sz="1800">
                <a:solidFill>
                  <a:srgbClr val="FFFFFF"/>
                </a:solidFill>
              </a:rPr>
              <a:t>• Real-time pattern recognition</a:t>
            </a:r>
          </a:p>
          <a:p>
            <a:r>
              <a:rPr sz="1800">
                <a:solidFill>
                  <a:srgbClr val="FFFFFF"/>
                </a:solidFill>
              </a:rPr>
              <a:t>• Adaptive learning from new threats</a:t>
            </a:r>
          </a:p>
          <a:p>
            <a:r>
              <a:rPr sz="1800">
                <a:solidFill>
                  <a:srgbClr val="FFFFFF"/>
                </a:solidFill>
              </a:rPr>
              <a:t>• Reduced false positives</a:t>
            </a:r>
          </a:p>
          <a:p>
            <a:r>
              <a:rPr sz="1800">
                <a:solidFill>
                  <a:srgbClr val="FFFFFF"/>
                </a:solidFill>
              </a:rPr>
              <a:t>• Automated threat classification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A4A"/>
            </a:gs>
            <a:gs pos="100000">
              <a:srgbClr val="34495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2ECC71"/>
                </a:solidFill>
              </a:rPr>
              <a:t>MACHINE LEARNING TECHNIQUES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2103120" cy="1371600"/>
          </a:xfrm>
          <a:prstGeom prst="roundRect">
            <a:avLst/>
          </a:prstGeom>
          <a:solidFill>
            <a:srgbClr val="3498D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Supervised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</a:rPr>
              <a:t>Classification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of known threats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1828800"/>
            <a:ext cx="2103120" cy="1371600"/>
          </a:xfrm>
          <a:prstGeom prst="roundRect">
            <a:avLst/>
          </a:prstGeom>
          <a:solidFill>
            <a:srgbClr val="9B59B6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Unsupervised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34747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</a:rPr>
              <a:t>Anomaly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828800"/>
            <a:ext cx="2103120" cy="1371600"/>
          </a:xfrm>
          <a:prstGeom prst="roundRect">
            <a:avLst/>
          </a:prstGeom>
          <a:solidFill>
            <a:srgbClr val="2ECC71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Deep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34747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</a:rPr>
              <a:t>Complex pattern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recognition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i="1">
                <a:solidFill>
                  <a:srgbClr val="C8C8C8"/>
                </a:solidFill>
              </a:rPr>
              <a:t>These techniques work together to create robust, adaptive security systems capable of identifying both known and emerging threats.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A4A"/>
            </a:gs>
            <a:gs pos="100000">
              <a:srgbClr val="34495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E74C3C"/>
                </a:solidFill>
              </a:rPr>
              <a:t>CHALLENGES &amp; 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2286000" cy="731520"/>
          </a:xfrm>
          <a:prstGeom prst="roundRect">
            <a:avLst/>
          </a:prstGeom>
          <a:solidFill>
            <a:srgbClr val="E74C3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</a:rPr>
              <a:t>Requires large,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labeled datasets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2286000" cy="731520"/>
          </a:xfrm>
          <a:prstGeom prst="roundRect">
            <a:avLst/>
          </a:prstGeom>
          <a:solidFill>
            <a:srgbClr val="E67E2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Adversarial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Attacks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4688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</a:rPr>
              <a:t>AI systems can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be manipulated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657600"/>
            <a:ext cx="2286000" cy="731520"/>
          </a:xfrm>
          <a:prstGeom prst="roundRect">
            <a:avLst/>
          </a:prstGeom>
          <a:solidFill>
            <a:srgbClr val="C0392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False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Positives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4805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</a:rPr>
              <a:t>Balance between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security &amp; usability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3657600"/>
            <a:ext cx="2286000" cy="731520"/>
          </a:xfrm>
          <a:prstGeom prst="roundRect">
            <a:avLst/>
          </a:prstGeom>
          <a:solidFill>
            <a:srgbClr val="D3540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Explainability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4805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</a:rPr>
              <a:t>Black box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decision making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A4A"/>
            </a:gs>
            <a:gs pos="100000">
              <a:srgbClr val="34495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9B59B6"/>
                </a:solidFill>
              </a:rPr>
              <a:t>FUTURE TRENDS IN AI CYBERSECURITY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3200400"/>
            <a:ext cx="7315200" cy="914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1645920" cy="914400"/>
          </a:xfrm>
          <a:prstGeom prst="roundRect">
            <a:avLst/>
          </a:prstGeom>
          <a:solidFill>
            <a:srgbClr val="3498D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Quantum-Safe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2025-2027</a:t>
            </a:r>
          </a:p>
        </p:txBody>
      </p:sp>
      <p:sp>
        <p:nvSpPr>
          <p:cNvPr id="6" name="Oval 5"/>
          <p:cNvSpPr/>
          <p:nvPr/>
        </p:nvSpPr>
        <p:spPr>
          <a:xfrm>
            <a:off x="2103120" y="3108960"/>
            <a:ext cx="182880" cy="182880"/>
          </a:xfrm>
          <a:prstGeom prst="ellipse">
            <a:avLst/>
          </a:prstGeom>
          <a:solidFill>
            <a:srgbClr val="3498D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0" y="1645920"/>
            <a:ext cx="1645920" cy="914400"/>
          </a:xfrm>
          <a:prstGeom prst="roundRect">
            <a:avLst/>
          </a:prstGeom>
          <a:solidFill>
            <a:srgbClr val="2ECC71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Autonomous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84048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2026-2028</a:t>
            </a:r>
          </a:p>
        </p:txBody>
      </p:sp>
      <p:sp>
        <p:nvSpPr>
          <p:cNvPr id="9" name="Oval 8"/>
          <p:cNvSpPr/>
          <p:nvPr/>
        </p:nvSpPr>
        <p:spPr>
          <a:xfrm>
            <a:off x="3931920" y="3108960"/>
            <a:ext cx="182880" cy="182880"/>
          </a:xfrm>
          <a:prstGeom prst="ellipse">
            <a:avLst/>
          </a:prstGeom>
          <a:solidFill>
            <a:srgbClr val="2ECC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0" y="1645920"/>
            <a:ext cx="1645920" cy="914400"/>
          </a:xfrm>
          <a:prstGeom prst="roundRect">
            <a:avLst/>
          </a:prstGeom>
          <a:solidFill>
            <a:srgbClr val="9B59B6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Federated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84048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2027-2029</a:t>
            </a:r>
          </a:p>
        </p:txBody>
      </p:sp>
      <p:sp>
        <p:nvSpPr>
          <p:cNvPr id="12" name="Oval 11"/>
          <p:cNvSpPr/>
          <p:nvPr/>
        </p:nvSpPr>
        <p:spPr>
          <a:xfrm>
            <a:off x="5760720" y="3108960"/>
            <a:ext cx="182880" cy="182880"/>
          </a:xfrm>
          <a:prstGeom prst="ellipse">
            <a:avLst/>
          </a:prstGeom>
          <a:solidFill>
            <a:srgbClr val="9B59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0" y="1645920"/>
            <a:ext cx="1645920" cy="914400"/>
          </a:xfrm>
          <a:prstGeom prst="roundRect">
            <a:avLst/>
          </a:prstGeom>
          <a:solidFill>
            <a:srgbClr val="E67E2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AI-Powered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Zero Trust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84048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2028-2030</a:t>
            </a:r>
          </a:p>
        </p:txBody>
      </p:sp>
      <p:sp>
        <p:nvSpPr>
          <p:cNvPr id="15" name="Oval 14"/>
          <p:cNvSpPr/>
          <p:nvPr/>
        </p:nvSpPr>
        <p:spPr>
          <a:xfrm>
            <a:off x="7589520" y="3108960"/>
            <a:ext cx="182880" cy="182880"/>
          </a:xfrm>
          <a:prstGeom prst="ellipse">
            <a:avLst/>
          </a:prstGeom>
          <a:solidFill>
            <a:srgbClr val="E67E2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A4A"/>
            </a:gs>
            <a:gs pos="100000">
              <a:srgbClr val="34495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011680"/>
            <a:ext cx="457200" cy="457200"/>
          </a:xfrm>
          <a:prstGeom prst="roundRect">
            <a:avLst/>
          </a:prstGeom>
          <a:solidFill>
            <a:srgbClr val="3498D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2011680"/>
            <a:ext cx="5943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AI transforms cybersecurity through intelligent automation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017520"/>
            <a:ext cx="457200" cy="457200"/>
          </a:xfrm>
          <a:prstGeom prst="roundRect">
            <a:avLst/>
          </a:prstGeom>
          <a:solidFill>
            <a:srgbClr val="2ECC71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3017520"/>
            <a:ext cx="5943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Machine learning enables proactive threat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023360"/>
            <a:ext cx="457200" cy="457200"/>
          </a:xfrm>
          <a:prstGeom prst="roundRect">
            <a:avLst/>
          </a:prstGeom>
          <a:solidFill>
            <a:srgbClr val="E67E2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4023360"/>
            <a:ext cx="5943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Challenges remain but solutions are evolving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5029200"/>
            <a:ext cx="457200" cy="457200"/>
          </a:xfrm>
          <a:prstGeom prst="roundRect">
            <a:avLst/>
          </a:prstGeom>
          <a:solidFill>
            <a:srgbClr val="9B59B6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5029200"/>
            <a:ext cx="5943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The future is autonomous, adaptive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7607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i="1" b="1">
                <a:solidFill>
                  <a:srgbClr val="64C8FF"/>
                </a:solidFill>
              </a:rPr>
              <a:t>AI is not just the future of cybersecurity—</a:t>
            </a:r>
          </a:p>
          <a:p>
            <a:pPr algn="ctr"/>
            <a:r>
              <a:rPr sz="2000" i="1" b="1">
                <a:solidFill>
                  <a:srgbClr val="64C8FF"/>
                </a:solidFill>
              </a:rPr>
              <a:t>it's the present necessity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040"/>
            </a:gs>
            <a:gs pos="100000">
              <a:srgbClr val="2C3E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64C8FF"/>
                </a:solidFill>
              </a:rPr>
              <a:t>Questions &amp; Discussion</a:t>
            </a:r>
          </a:p>
        </p:txBody>
      </p:sp>
      <p:sp>
        <p:nvSpPr>
          <p:cNvPr id="4" name="Hexagon 3"/>
          <p:cNvSpPr/>
          <p:nvPr/>
        </p:nvSpPr>
        <p:spPr>
          <a:xfrm>
            <a:off x="914400" y="914400"/>
            <a:ext cx="731520" cy="731520"/>
          </a:xfrm>
          <a:prstGeom prst="hexagon">
            <a:avLst/>
          </a:prstGeom>
          <a:solidFill>
            <a:srgbClr val="3498D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7498079" y="914400"/>
            <a:ext cx="731520" cy="731520"/>
          </a:xfrm>
          <a:prstGeom prst="hexagon">
            <a:avLst/>
          </a:prstGeom>
          <a:solidFill>
            <a:srgbClr val="2ECC71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914400" y="5212080"/>
            <a:ext cx="731520" cy="731520"/>
          </a:xfrm>
          <a:prstGeom prst="hexagon">
            <a:avLst/>
          </a:prstGeom>
          <a:solidFill>
            <a:srgbClr val="9B59B6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7498079" y="5212080"/>
            <a:ext cx="731520" cy="731520"/>
          </a:xfrm>
          <a:prstGeom prst="hexagon">
            <a:avLst/>
          </a:prstGeom>
          <a:solidFill>
            <a:srgbClr val="E67E2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