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8229600" cy="228600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The Future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AI: Simulation of human intelligence by machines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Systems that can learn, reason, and self-correct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Revolutionizing industries and daily life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From virtual assistants to autonomous vehicles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Transforming how we work, communicate, and solve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History of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657600"/>
            <a:ext cx="7315200" cy="0"/>
          </a:xfrm>
          <a:prstGeom prst="line">
            <a:avLst/>
          </a:prstGeom>
          <a:ln w="508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77240" y="3520440"/>
            <a:ext cx="274320" cy="274320"/>
          </a:xfrm>
          <a:prstGeom prst="ellipse">
            <a:avLst/>
          </a:prstGeom>
          <a:solidFill>
            <a:srgbClr val="E74C3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1950s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319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Birth of AI</a:t>
            </a:r>
          </a:p>
          <a:p>
            <a:r>
              <a:t>Turing Test</a:t>
            </a:r>
          </a:p>
        </p:txBody>
      </p:sp>
      <p:sp>
        <p:nvSpPr>
          <p:cNvPr id="9" name="Oval 8"/>
          <p:cNvSpPr/>
          <p:nvPr/>
        </p:nvSpPr>
        <p:spPr>
          <a:xfrm>
            <a:off x="3215640" y="3520440"/>
            <a:ext cx="274320" cy="274320"/>
          </a:xfrm>
          <a:prstGeom prst="ellipse">
            <a:avLst/>
          </a:prstGeom>
          <a:solidFill>
            <a:srgbClr val="E67E22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7040" y="2926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67E22"/>
                </a:solidFill>
              </a:defRPr>
            </a:pPr>
            <a:r>
              <a:t>1960s-70s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4160" y="39319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Early AI</a:t>
            </a:r>
          </a:p>
          <a:p>
            <a:r>
              <a:t>Programs</a:t>
            </a:r>
          </a:p>
        </p:txBody>
      </p:sp>
      <p:sp>
        <p:nvSpPr>
          <p:cNvPr id="12" name="Oval 11"/>
          <p:cNvSpPr/>
          <p:nvPr/>
        </p:nvSpPr>
        <p:spPr>
          <a:xfrm>
            <a:off x="5654040" y="3520440"/>
            <a:ext cx="274320" cy="274320"/>
          </a:xfrm>
          <a:prstGeom prst="ellipse">
            <a:avLst/>
          </a:prstGeom>
          <a:solidFill>
            <a:srgbClr val="F1C40F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5440" y="2926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1C40F"/>
                </a:solidFill>
              </a:defRPr>
            </a:pPr>
            <a:r>
              <a:t>1980s-90s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2560" y="39319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Expert</a:t>
            </a:r>
          </a:p>
          <a:p>
            <a:r>
              <a:t>Systems</a:t>
            </a:r>
          </a:p>
        </p:txBody>
      </p:sp>
      <p:sp>
        <p:nvSpPr>
          <p:cNvPr id="15" name="Oval 14"/>
          <p:cNvSpPr/>
          <p:nvPr/>
        </p:nvSpPr>
        <p:spPr>
          <a:xfrm>
            <a:off x="8092440" y="3520440"/>
            <a:ext cx="274320" cy="274320"/>
          </a:xfrm>
          <a:prstGeom prst="ellipse">
            <a:avLst/>
          </a:prstGeom>
          <a:solidFill>
            <a:srgbClr val="2ECC71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26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2000s-Now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9319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Machine</a:t>
            </a:r>
          </a:p>
          <a:p>
            <a:r>
              <a:t>Learning 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Types of AI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2743200"/>
            <a:ext cx="1828800" cy="1828800"/>
          </a:xfrm>
          <a:prstGeom prst="ellipse">
            <a:avLst/>
          </a:prstGeom>
          <a:solidFill>
            <a:srgbClr val="2980B9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38328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</a:t>
            </a:r>
          </a:p>
          <a:p>
            <a:r>
              <a:t>Types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4572000" y="1371600"/>
            <a:ext cx="0" cy="228600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3498D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1430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Narrow AI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3657600"/>
            <a:ext cx="1979734" cy="114300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820214" y="4069080"/>
            <a:ext cx="1463040" cy="1463040"/>
          </a:xfrm>
          <a:prstGeom prst="ellipse">
            <a:avLst/>
          </a:prstGeom>
          <a:solidFill>
            <a:srgbClr val="2ECC71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0214" y="45720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General AI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592265" y="3657600"/>
            <a:ext cx="1979735" cy="1143000"/>
          </a:xfrm>
          <a:prstGeom prst="line">
            <a:avLst/>
          </a:prstGeom>
          <a:ln w="2540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860745" y="4069080"/>
            <a:ext cx="1463040" cy="1463040"/>
          </a:xfrm>
          <a:prstGeom prst="ellipse">
            <a:avLst/>
          </a:prstGeom>
          <a:solidFill>
            <a:srgbClr val="9B59B6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60745" y="45720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Super</a:t>
            </a:r>
          </a:p>
          <a:p>
            <a:r>
              <a:t>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3498D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Narrow AI (ANI)</a:t>
            </a:r>
          </a:p>
          <a:p>
            <a:r>
              <a:t>Specialized in specific tasks</a:t>
            </a:r>
          </a:p>
          <a:p>
            <a:r>
              <a:t>Current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474720" cy="2011680"/>
          </a:xfrm>
          <a:prstGeom prst="roundRect">
            <a:avLst/>
          </a:prstGeom>
          <a:solidFill>
            <a:srgbClr val="2ECC71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92024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General AI (AGI)</a:t>
            </a:r>
          </a:p>
          <a:p>
            <a:r>
              <a:t>Human-level intelligence</a:t>
            </a:r>
          </a:p>
          <a:p>
            <a:r>
              <a:t>Theoretical concept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9B59B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Superintelligence (ASI)</a:t>
            </a:r>
          </a:p>
          <a:p>
            <a:r>
              <a:t>Surpasses human intelligence</a:t>
            </a:r>
          </a:p>
          <a:p>
            <a:r>
              <a:t>Future possibility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023360"/>
            <a:ext cx="3474720" cy="2011680"/>
          </a:xfrm>
          <a:prstGeom prst="roundRect">
            <a:avLst/>
          </a:prstGeom>
          <a:solidFill>
            <a:srgbClr val="F1C40F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29768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Each level represents</a:t>
            </a:r>
          </a:p>
          <a:p>
            <a:r>
              <a:t>increasing capability</a:t>
            </a:r>
          </a:p>
          <a:p>
            <a:r>
              <a:t>and complexity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Applications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2743200"/>
            <a:ext cx="1828800" cy="1828800"/>
          </a:xfrm>
          <a:prstGeom prst="ellipse">
            <a:avLst/>
          </a:prstGeom>
          <a:solidFill>
            <a:srgbClr val="2980B9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38328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 in</a:t>
            </a:r>
          </a:p>
          <a:p>
            <a:r>
              <a:t>Action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4572000" y="1371600"/>
            <a:ext cx="0" cy="228600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3498D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1430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Healthcare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572000" y="2514600"/>
            <a:ext cx="1979734" cy="114300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820214" y="1783080"/>
            <a:ext cx="1463040" cy="1463040"/>
          </a:xfrm>
          <a:prstGeom prst="ellipse">
            <a:avLst/>
          </a:prstGeom>
          <a:solidFill>
            <a:srgbClr val="2ECC71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0214" y="22860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3657600"/>
            <a:ext cx="1979734" cy="1143000"/>
          </a:xfrm>
          <a:prstGeom prst="line">
            <a:avLst/>
          </a:prstGeom>
          <a:ln w="2540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20214" y="4069080"/>
            <a:ext cx="1463040" cy="1463040"/>
          </a:xfrm>
          <a:prstGeom prst="ellipse">
            <a:avLst/>
          </a:prstGeom>
          <a:solidFill>
            <a:srgbClr val="9B59B6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0214" y="45720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Transport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3657600"/>
            <a:ext cx="0" cy="2286000"/>
          </a:xfrm>
          <a:prstGeom prst="line">
            <a:avLst/>
          </a:prstGeom>
          <a:ln w="25400">
            <a:solidFill>
              <a:srgbClr val="F1C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840480" y="5212080"/>
            <a:ext cx="1463040" cy="1463040"/>
          </a:xfrm>
          <a:prstGeom prst="ellipse">
            <a:avLst/>
          </a:prstGeom>
          <a:solidFill>
            <a:srgbClr val="F1C40F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57150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Entertainment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592265" y="3657600"/>
            <a:ext cx="1979735" cy="1143000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860745" y="4069080"/>
            <a:ext cx="1463040" cy="1463040"/>
          </a:xfrm>
          <a:prstGeom prst="ellipse">
            <a:avLst/>
          </a:prstGeom>
          <a:solidFill>
            <a:srgbClr val="E74C3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60745" y="45720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Education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2592265" y="2514600"/>
            <a:ext cx="1979735" cy="1143000"/>
          </a:xfrm>
          <a:prstGeom prst="line">
            <a:avLst/>
          </a:prstGeom>
          <a:ln w="25400">
            <a:solidFill>
              <a:srgbClr val="1AB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860745" y="1783080"/>
            <a:ext cx="1463040" cy="1463040"/>
          </a:xfrm>
          <a:prstGeom prst="ellipse">
            <a:avLst/>
          </a:prstGeom>
          <a:solidFill>
            <a:srgbClr val="1ABC9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60745" y="22860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Manufacturing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in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Disease Diagnosis: AI analyzes medical images and patient data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Drug Discovery: Accelerates development of new medications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Personalized Treatment: Tailored healthcare plans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Predictive Analytics: Early disease detection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Robot-Assisted Surgery: Enhanced precision and outcomes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in Finance &amp; Transportation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3498D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Finance:</a:t>
            </a:r>
          </a:p>
          <a:p>
            <a:r>
              <a:t>• Fraud detection</a:t>
            </a:r>
          </a:p>
          <a:p>
            <a:r>
              <a:t>• Algorithmic trading</a:t>
            </a:r>
          </a:p>
          <a:p>
            <a:r>
              <a:t>• Risk assessment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474720" cy="2011680"/>
          </a:xfrm>
          <a:prstGeom prst="roundRect">
            <a:avLst/>
          </a:prstGeom>
          <a:solidFill>
            <a:srgbClr val="2ECC71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92024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Transportation:</a:t>
            </a:r>
          </a:p>
          <a:p>
            <a:r>
              <a:t>• Autonomous vehicles</a:t>
            </a:r>
          </a:p>
          <a:p>
            <a:r>
              <a:t>• Traffic optimization</a:t>
            </a:r>
          </a:p>
          <a:p>
            <a:r>
              <a:t>• Route 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9B59B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Entertainment:</a:t>
            </a:r>
          </a:p>
          <a:p>
            <a:r>
              <a:t>• Content recommendations</a:t>
            </a:r>
          </a:p>
          <a:p>
            <a:r>
              <a:t>• Personalized experiences</a:t>
            </a:r>
          </a:p>
          <a:p>
            <a:r>
              <a:t>• Content creation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023360"/>
            <a:ext cx="3474720" cy="2011680"/>
          </a:xfrm>
          <a:prstGeom prst="roundRect">
            <a:avLst/>
          </a:prstGeom>
          <a:solidFill>
            <a:srgbClr val="F1C40F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29768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Manufacturing:</a:t>
            </a:r>
          </a:p>
          <a:p>
            <a:r>
              <a:t>• Quality control</a:t>
            </a:r>
          </a:p>
          <a:p>
            <a:r>
              <a:t>• Predictive maintenance</a:t>
            </a:r>
          </a:p>
          <a:p>
            <a:r>
              <a:t>• Process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Challenges &amp; Ethics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2743200"/>
            <a:ext cx="1828800" cy="1828800"/>
          </a:xfrm>
          <a:prstGeom prst="ellipse">
            <a:avLst/>
          </a:prstGeom>
          <a:solidFill>
            <a:srgbClr val="2980B9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38328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</a:t>
            </a:r>
          </a:p>
          <a:p>
            <a:r>
              <a:t>Challenges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4572000" y="1371600"/>
            <a:ext cx="0" cy="228600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3498D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14300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Bias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572000" y="2951187"/>
            <a:ext cx="2174115" cy="706413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014595" y="2219667"/>
            <a:ext cx="1463040" cy="1463040"/>
          </a:xfrm>
          <a:prstGeom prst="ellipse">
            <a:avLst/>
          </a:prstGeom>
          <a:solidFill>
            <a:srgbClr val="2ECC71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4595" y="2722587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Privacy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3657600"/>
            <a:ext cx="1343677" cy="1849412"/>
          </a:xfrm>
          <a:prstGeom prst="line">
            <a:avLst/>
          </a:prstGeom>
          <a:ln w="2540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184157" y="4775492"/>
            <a:ext cx="1463040" cy="1463040"/>
          </a:xfrm>
          <a:prstGeom prst="ellipse">
            <a:avLst/>
          </a:prstGeom>
          <a:solidFill>
            <a:srgbClr val="9B59B6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157" y="5278412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Job Loss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28322" y="3657600"/>
            <a:ext cx="1343678" cy="1849412"/>
          </a:xfrm>
          <a:prstGeom prst="line">
            <a:avLst/>
          </a:prstGeom>
          <a:ln w="25400">
            <a:solidFill>
              <a:srgbClr val="F1C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96802" y="4775492"/>
            <a:ext cx="1463040" cy="1463040"/>
          </a:xfrm>
          <a:prstGeom prst="ellipse">
            <a:avLst/>
          </a:prstGeom>
          <a:solidFill>
            <a:srgbClr val="F1C40F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802" y="5278412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Accountability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2397884" y="2951187"/>
            <a:ext cx="2174116" cy="706413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66364" y="2219667"/>
            <a:ext cx="1463040" cy="1463040"/>
          </a:xfrm>
          <a:prstGeom prst="ellipse">
            <a:avLst/>
          </a:prstGeom>
          <a:solidFill>
            <a:srgbClr val="E74C3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66364" y="2722587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Ethical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Bias &amp; Fairness: AI systems can perpetuate existing biases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Privacy Concerns: Data collection and surveillance issues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Job Displacement: Automation affecting employment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Accountability: Who is responsible for AI decisions?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Transparency: Understanding AI decision-making processes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Continued advancement in machine learning algorithms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Integration of AI in everyday devices and services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Development toward Artificial General Intelligence (AGI)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Enhanced human-AI collaboration and augmentation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• Ethical frameworks and regulations for responsible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3498D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 is transforming</a:t>
            </a:r>
          </a:p>
          <a:p>
            <a:r>
              <a:t>our world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474720" cy="2011680"/>
          </a:xfrm>
          <a:prstGeom prst="roundRect">
            <a:avLst/>
          </a:prstGeom>
          <a:solidFill>
            <a:srgbClr val="2ECC71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92024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Immense potential</a:t>
            </a:r>
          </a:p>
          <a:p>
            <a:r>
              <a:t>for innovation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9B59B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Addressing challenges</a:t>
            </a:r>
          </a:p>
          <a:p>
            <a:r>
              <a:t>is crucial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023360"/>
            <a:ext cx="3474720" cy="2011680"/>
          </a:xfrm>
          <a:prstGeom prst="roundRect">
            <a:avLst/>
          </a:prstGeom>
          <a:solidFill>
            <a:srgbClr val="F1C40F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297680"/>
            <a:ext cx="3108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Responsible development</a:t>
            </a:r>
          </a:p>
          <a:p>
            <a:r>
              <a:t>and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8229600" cy="228600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